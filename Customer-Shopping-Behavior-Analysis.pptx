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DM Sans" panose="020F0502020204030204" pitchFamily="2" charset="0"/>
      <p:regular r:id="rId14"/>
    </p:embeddedFont>
    <p:embeddedFont>
      <p:font typeface="Libre Baskerville" panose="020F0502020204030204" pitchFamily="2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4542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FE482-46BD-06C8-3C83-5589689A7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B332B4-7C21-1B01-8A63-6381D918DD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16FFB7-C9A0-52F5-5293-854DE0CFA5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1E360D-473B-5A47-48FB-A2142069FF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236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insights from 3,900 purchases to guide strategic business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0871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1455420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Comprehensive transaction data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35893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5897523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Columns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235893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demographics &amp; behavior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677995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0339626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677995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in Review Rating column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72585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Process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dataset using pandas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Initial Exploration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 check and summary statistics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377803"/>
            <a:ext cx="33098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Review Rating with median values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520214"/>
            <a:ext cx="29544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age groups and purchase frequency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520214"/>
            <a:ext cx="30128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Connected to </a:t>
            </a:r>
            <a:r>
              <a:rPr lang="en-US" sz="175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MicrosoftSQL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for analysis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984"/>
            <a:ext cx="82426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 Analysis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10076"/>
            <a:ext cx="7604284" cy="400109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738563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40320C"/>
          </a:solidFill>
          <a:ln/>
        </p:spPr>
      </p:sp>
      <p:sp>
        <p:nvSpPr>
          <p:cNvPr id="5" name="Text 2"/>
          <p:cNvSpPr/>
          <p:nvPr/>
        </p:nvSpPr>
        <p:spPr>
          <a:xfrm>
            <a:off x="4026337" y="6541651"/>
            <a:ext cx="4933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4672132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CC9D27"/>
          </a:solidFill>
          <a:ln/>
        </p:spPr>
      </p:sp>
      <p:sp>
        <p:nvSpPr>
          <p:cNvPr id="7" name="Text 4"/>
          <p:cNvSpPr/>
          <p:nvPr/>
        </p:nvSpPr>
        <p:spPr>
          <a:xfrm>
            <a:off x="4959906" y="6541651"/>
            <a:ext cx="749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959096" y="24817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959096" y="3062883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 customers generate slightly higher total revenue than male customers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8959096" y="4043839"/>
            <a:ext cx="4885015" cy="1326713"/>
          </a:xfrm>
          <a:prstGeom prst="roundRect">
            <a:avLst>
              <a:gd name="adj" fmla="val 7181"/>
            </a:avLst>
          </a:prstGeom>
          <a:solidFill>
            <a:srgbClr val="F3E4B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5910" y="4387929"/>
            <a:ext cx="283488" cy="2268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96212" y="4327327"/>
            <a:ext cx="392108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Gender-based marketing strategies could optimize revenue streams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9125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High-Value Discount Users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24897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using discounts while spending above average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3867031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14624" y="4101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Smart Shoppers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14624" y="4591883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spenders who maximize value with discounts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5416034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14624" y="5650468"/>
            <a:ext cx="32001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Opportunity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14624" y="6140887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premium customers with exclusive offers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295537"/>
            <a:ext cx="58126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Top-Rated Products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344478"/>
            <a:ext cx="382667" cy="340162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130" y="5344478"/>
            <a:ext cx="382667" cy="340162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471" y="5344478"/>
            <a:ext cx="382667" cy="340162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812" y="5344478"/>
            <a:ext cx="382667" cy="340162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152" y="5344478"/>
            <a:ext cx="382667" cy="340162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3103840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0" name="Text 2"/>
          <p:cNvSpPr/>
          <p:nvPr/>
        </p:nvSpPr>
        <p:spPr>
          <a:xfrm>
            <a:off x="793790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Blouse</a:t>
            </a:r>
            <a:endParaRPr lang="en-US" sz="2200" dirty="0"/>
          </a:p>
        </p:txBody>
      </p:sp>
      <p:sp>
        <p:nvSpPr>
          <p:cNvPr id="11" name="Text 3"/>
          <p:cNvSpPr/>
          <p:nvPr/>
        </p:nvSpPr>
        <p:spPr>
          <a:xfrm>
            <a:off x="793790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customer satisfaction</a:t>
            </a:r>
            <a:endParaRPr lang="en-US" sz="175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5344478"/>
            <a:ext cx="382667" cy="340162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5233" y="5344478"/>
            <a:ext cx="382667" cy="340162"/>
          </a:xfrm>
          <a:prstGeom prst="rect">
            <a:avLst/>
          </a:prstGeom>
        </p:spPr>
      </p:pic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4574" y="5344478"/>
            <a:ext cx="382667" cy="340162"/>
          </a:xfrm>
          <a:prstGeom prst="rect">
            <a:avLst/>
          </a:prstGeom>
        </p:spPr>
      </p:pic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914" y="5344478"/>
            <a:ext cx="382667" cy="340162"/>
          </a:xfrm>
          <a:prstGeom prst="rect">
            <a:avLst/>
          </a:prstGeom>
        </p:spPr>
      </p:pic>
      <p:pic>
        <p:nvPicPr>
          <p:cNvPr id="16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3255" y="5344478"/>
            <a:ext cx="382667" cy="340162"/>
          </a:xfrm>
          <a:prstGeom prst="rect">
            <a:avLst/>
          </a:prstGeom>
        </p:spPr>
      </p:pic>
      <p:sp>
        <p:nvSpPr>
          <p:cNvPr id="17" name="Text 4"/>
          <p:cNvSpPr/>
          <p:nvPr/>
        </p:nvSpPr>
        <p:spPr>
          <a:xfrm>
            <a:off x="7545943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5"/>
          <p:cNvSpPr/>
          <p:nvPr/>
        </p:nvSpPr>
        <p:spPr>
          <a:xfrm>
            <a:off x="5235893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Dress</a:t>
            </a:r>
            <a:endParaRPr lang="en-US" sz="2200" dirty="0"/>
          </a:p>
        </p:txBody>
      </p:sp>
      <p:sp>
        <p:nvSpPr>
          <p:cNvPr id="19" name="Text 6"/>
          <p:cNvSpPr/>
          <p:nvPr/>
        </p:nvSpPr>
        <p:spPr>
          <a:xfrm>
            <a:off x="5235893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Consistently excellent reviews</a:t>
            </a:r>
            <a:endParaRPr lang="en-US" sz="1750" dirty="0"/>
          </a:p>
        </p:txBody>
      </p:sp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995" y="5344478"/>
            <a:ext cx="382667" cy="340162"/>
          </a:xfrm>
          <a:prstGeom prst="rect">
            <a:avLst/>
          </a:prstGeom>
        </p:spPr>
      </p:pic>
      <p:pic>
        <p:nvPicPr>
          <p:cNvPr id="21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7336" y="5344478"/>
            <a:ext cx="382667" cy="340162"/>
          </a:xfrm>
          <a:prstGeom prst="rect">
            <a:avLst/>
          </a:prstGeom>
        </p:spPr>
      </p:pic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6677" y="5344478"/>
            <a:ext cx="382667" cy="340162"/>
          </a:xfrm>
          <a:prstGeom prst="rect">
            <a:avLst/>
          </a:prstGeom>
        </p:spPr>
      </p:pic>
      <p:pic>
        <p:nvPicPr>
          <p:cNvPr id="23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6017" y="5344478"/>
            <a:ext cx="382667" cy="340162"/>
          </a:xfrm>
          <a:prstGeom prst="rect">
            <a:avLst/>
          </a:prstGeom>
        </p:spPr>
      </p:pic>
      <p:pic>
        <p:nvPicPr>
          <p:cNvPr id="24" name="Image 1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5358" y="5344478"/>
            <a:ext cx="382667" cy="340162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11988046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8"/>
          <p:cNvSpPr/>
          <p:nvPr/>
        </p:nvSpPr>
        <p:spPr>
          <a:xfrm>
            <a:off x="9677995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Shirt</a:t>
            </a:r>
            <a:endParaRPr lang="en-US" sz="2200" dirty="0"/>
          </a:p>
        </p:txBody>
      </p:sp>
      <p:sp>
        <p:nvSpPr>
          <p:cNvPr id="27" name="Text 9"/>
          <p:cNvSpPr/>
          <p:nvPr/>
        </p:nvSpPr>
        <p:spPr>
          <a:xfrm>
            <a:off x="9677995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 customer approval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1720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Preferences Impact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Express Shipping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$65</a:t>
            </a:r>
            <a:endParaRPr lang="en-US" sz="8900" dirty="0"/>
          </a:p>
        </p:txBody>
      </p:sp>
      <p:sp>
        <p:nvSpPr>
          <p:cNvPr id="6" name="Text 3"/>
          <p:cNvSpPr/>
          <p:nvPr/>
        </p:nvSpPr>
        <p:spPr>
          <a:xfrm>
            <a:off x="793790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56321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 Shipping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856321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$58</a:t>
            </a:r>
            <a:endParaRPr lang="en-US" sz="8900" dirty="0"/>
          </a:p>
        </p:txBody>
      </p:sp>
      <p:sp>
        <p:nvSpPr>
          <p:cNvPr id="9" name="Text 6"/>
          <p:cNvSpPr/>
          <p:nvPr/>
        </p:nvSpPr>
        <p:spPr>
          <a:xfrm>
            <a:off x="4856321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644949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 shipping customers spend 12% more per transaction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5631"/>
            <a:ext cx="59193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Impact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478042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68%</a:t>
            </a:r>
            <a:endParaRPr lang="en-US" sz="4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932" y="2454712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5420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Higher Spend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 vs non-subscribers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20145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45%</a:t>
            </a:r>
            <a:endParaRPr lang="en-US" sz="4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035" y="2454712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97523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Share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subscription customers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362248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78%</a:t>
            </a:r>
            <a:endParaRPr lang="en-US" sz="4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6138" y="2454712"/>
            <a:ext cx="3402330" cy="34023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39626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Rate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purchase frequency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7413"/>
            <a:ext cx="70804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2369820"/>
            <a:ext cx="2152055" cy="1306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4892" y="298584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357217" y="25966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57217" y="3087053"/>
            <a:ext cx="28800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15% - High value customers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87077" y="3689866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381" y="3733443"/>
            <a:ext cx="4304109" cy="1306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94892" y="4187547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6433304" y="3960257"/>
            <a:ext cx="25129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33304" y="4450675"/>
            <a:ext cx="25129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35% - Regular shoppers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263164" y="5053489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94" y="5097066"/>
            <a:ext cx="6456164" cy="13069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94773" y="5551170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0"/>
          <p:cNvSpPr/>
          <p:nvPr/>
        </p:nvSpPr>
        <p:spPr>
          <a:xfrm>
            <a:off x="7509272" y="5323880"/>
            <a:ext cx="25426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09272" y="5814298"/>
            <a:ext cx="25426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- First-time buyers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66591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converting New to Returning, Returning to Loyal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25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4683" y="430768"/>
            <a:ext cx="5660827" cy="48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Recommendations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6034683" y="1155144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98870" y="1319332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053" y="1422083"/>
            <a:ext cx="211455" cy="2643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8870" y="1945838"/>
            <a:ext cx="198989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198870" y="2284571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benefits for subscribers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034683" y="2855952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8870" y="3020139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8053" y="3122890"/>
            <a:ext cx="211455" cy="2643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98870" y="3646646"/>
            <a:ext cx="195810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6198870" y="3985379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increase retention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34683" y="4556760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98870" y="4720947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8053" y="4823698"/>
            <a:ext cx="211455" cy="26431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98870" y="5347454"/>
            <a:ext cx="1975009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198870" y="5686187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segments and express users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034683" y="6257568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198870" y="6421755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8053" y="6524506"/>
            <a:ext cx="211455" cy="26431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98870" y="7048262"/>
            <a:ext cx="1986796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198870" y="7386995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products in campaigns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91933-939B-9B4F-26DA-787AD665E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73B310C9-7108-0AEB-D43A-F0FB62C80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2577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8FD8C73-7131-817C-7B56-B805E04D8DB8}"/>
              </a:ext>
            </a:extLst>
          </p:cNvPr>
          <p:cNvSpPr/>
          <p:nvPr/>
        </p:nvSpPr>
        <p:spPr>
          <a:xfrm>
            <a:off x="6034683" y="430768"/>
            <a:ext cx="5660827" cy="48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Recommendations</a:t>
            </a:r>
            <a:endParaRPr lang="en-US" sz="305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9CB0F365-EB07-EE0C-46C4-ED85724AF4E7}"/>
              </a:ext>
            </a:extLst>
          </p:cNvPr>
          <p:cNvSpPr/>
          <p:nvPr/>
        </p:nvSpPr>
        <p:spPr>
          <a:xfrm>
            <a:off x="6034683" y="1155144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6D490A2C-F91C-53D3-FF7D-F5E025CC9442}"/>
              </a:ext>
            </a:extLst>
          </p:cNvPr>
          <p:cNvSpPr/>
          <p:nvPr/>
        </p:nvSpPr>
        <p:spPr>
          <a:xfrm>
            <a:off x="6198870" y="1319332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2B98DFEC-0A47-1238-5751-66AD71E782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053" y="1422083"/>
            <a:ext cx="211455" cy="264319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04724A71-2679-C06F-BDBD-9347C9A64A17}"/>
              </a:ext>
            </a:extLst>
          </p:cNvPr>
          <p:cNvSpPr/>
          <p:nvPr/>
        </p:nvSpPr>
        <p:spPr>
          <a:xfrm>
            <a:off x="6198870" y="1945838"/>
            <a:ext cx="198989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5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BE1AA714-A701-4C63-B061-A5E2C0801EDC}"/>
              </a:ext>
            </a:extLst>
          </p:cNvPr>
          <p:cNvSpPr/>
          <p:nvPr/>
        </p:nvSpPr>
        <p:spPr>
          <a:xfrm>
            <a:off x="6198870" y="2284571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benefits for subscribers</a:t>
            </a:r>
            <a:endParaRPr lang="en-US" sz="120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59ADE919-F4EF-5AB9-2866-7D1ABD22D438}"/>
              </a:ext>
            </a:extLst>
          </p:cNvPr>
          <p:cNvSpPr/>
          <p:nvPr/>
        </p:nvSpPr>
        <p:spPr>
          <a:xfrm>
            <a:off x="6034683" y="2855952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F74EC820-1250-266C-0D08-33B7E43C29BE}"/>
              </a:ext>
            </a:extLst>
          </p:cNvPr>
          <p:cNvSpPr/>
          <p:nvPr/>
        </p:nvSpPr>
        <p:spPr>
          <a:xfrm>
            <a:off x="6198870" y="3020139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FE4424CA-F53E-21C1-995F-EBB9471ED8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8053" y="3122890"/>
            <a:ext cx="211455" cy="264319"/>
          </a:xfrm>
          <a:prstGeom prst="rect">
            <a:avLst/>
          </a:prstGeom>
        </p:spPr>
      </p:pic>
      <p:sp>
        <p:nvSpPr>
          <p:cNvPr id="12" name="Text 7">
            <a:extLst>
              <a:ext uri="{FF2B5EF4-FFF2-40B4-BE49-F238E27FC236}">
                <a16:creationId xmlns:a16="http://schemas.microsoft.com/office/drawing/2014/main" id="{E9F080D0-4F68-CD6C-28B7-2D747C1DD36F}"/>
              </a:ext>
            </a:extLst>
          </p:cNvPr>
          <p:cNvSpPr/>
          <p:nvPr/>
        </p:nvSpPr>
        <p:spPr>
          <a:xfrm>
            <a:off x="6198870" y="3646646"/>
            <a:ext cx="195810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50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49F64FF2-8F6D-A924-04BE-B8C7946D8D03}"/>
              </a:ext>
            </a:extLst>
          </p:cNvPr>
          <p:cNvSpPr/>
          <p:nvPr/>
        </p:nvSpPr>
        <p:spPr>
          <a:xfrm>
            <a:off x="6198870" y="3985379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increase retention</a:t>
            </a:r>
            <a:endParaRPr lang="en-US" sz="1200" dirty="0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5384B49E-FACA-EB89-1D80-8EE6DC43F20D}"/>
              </a:ext>
            </a:extLst>
          </p:cNvPr>
          <p:cNvSpPr/>
          <p:nvPr/>
        </p:nvSpPr>
        <p:spPr>
          <a:xfrm>
            <a:off x="6034683" y="4556760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65EBA869-90A8-AFAA-3120-E0990A7E88DD}"/>
              </a:ext>
            </a:extLst>
          </p:cNvPr>
          <p:cNvSpPr/>
          <p:nvPr/>
        </p:nvSpPr>
        <p:spPr>
          <a:xfrm>
            <a:off x="6198870" y="4720947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C0A6008A-65CB-769B-0F8C-F1B5C1B57A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8053" y="4823698"/>
            <a:ext cx="211455" cy="264319"/>
          </a:xfrm>
          <a:prstGeom prst="rect">
            <a:avLst/>
          </a:prstGeom>
        </p:spPr>
      </p:pic>
      <p:sp>
        <p:nvSpPr>
          <p:cNvPr id="17" name="Text 11">
            <a:extLst>
              <a:ext uri="{FF2B5EF4-FFF2-40B4-BE49-F238E27FC236}">
                <a16:creationId xmlns:a16="http://schemas.microsoft.com/office/drawing/2014/main" id="{D5C50189-8E0F-0504-1F8F-906F9D01FC3D}"/>
              </a:ext>
            </a:extLst>
          </p:cNvPr>
          <p:cNvSpPr/>
          <p:nvPr/>
        </p:nvSpPr>
        <p:spPr>
          <a:xfrm>
            <a:off x="6198870" y="5347454"/>
            <a:ext cx="1975009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50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CB5D5D91-E90A-999F-5EA5-5864129556CA}"/>
              </a:ext>
            </a:extLst>
          </p:cNvPr>
          <p:cNvSpPr/>
          <p:nvPr/>
        </p:nvSpPr>
        <p:spPr>
          <a:xfrm>
            <a:off x="6198870" y="5686187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segments and express users</a:t>
            </a:r>
            <a:endParaRPr lang="en-US" sz="1200" dirty="0"/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AD886402-B336-A953-208A-A108E256C9D9}"/>
              </a:ext>
            </a:extLst>
          </p:cNvPr>
          <p:cNvSpPr/>
          <p:nvPr/>
        </p:nvSpPr>
        <p:spPr>
          <a:xfrm>
            <a:off x="6034683" y="6257568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29E21EF3-907F-B8EF-7F07-B55D40573CBB}"/>
              </a:ext>
            </a:extLst>
          </p:cNvPr>
          <p:cNvSpPr/>
          <p:nvPr/>
        </p:nvSpPr>
        <p:spPr>
          <a:xfrm>
            <a:off x="6198870" y="6421755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21" name="Image 4" descr="preencoded.png">
            <a:extLst>
              <a:ext uri="{FF2B5EF4-FFF2-40B4-BE49-F238E27FC236}">
                <a16:creationId xmlns:a16="http://schemas.microsoft.com/office/drawing/2014/main" id="{F1F861B3-3C08-7D93-67B7-C3800E1ABA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8053" y="6524506"/>
            <a:ext cx="211455" cy="264319"/>
          </a:xfrm>
          <a:prstGeom prst="rect">
            <a:avLst/>
          </a:prstGeom>
        </p:spPr>
      </p:pic>
      <p:sp>
        <p:nvSpPr>
          <p:cNvPr id="22" name="Text 15">
            <a:extLst>
              <a:ext uri="{FF2B5EF4-FFF2-40B4-BE49-F238E27FC236}">
                <a16:creationId xmlns:a16="http://schemas.microsoft.com/office/drawing/2014/main" id="{9AEA8E9E-8101-FEC3-B823-EF71CFC7F7C8}"/>
              </a:ext>
            </a:extLst>
          </p:cNvPr>
          <p:cNvSpPr/>
          <p:nvPr/>
        </p:nvSpPr>
        <p:spPr>
          <a:xfrm>
            <a:off x="6198870" y="7048262"/>
            <a:ext cx="1986796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500" dirty="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4224CC6F-24EF-6E81-A5E1-D1C03336DDCD}"/>
              </a:ext>
            </a:extLst>
          </p:cNvPr>
          <p:cNvSpPr/>
          <p:nvPr/>
        </p:nvSpPr>
        <p:spPr>
          <a:xfrm>
            <a:off x="6198870" y="7386995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products in campaigns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043977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311</Words>
  <Application>Microsoft Office PowerPoint</Application>
  <PresentationFormat>Custom</PresentationFormat>
  <Paragraphs>108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Libre Baskerville Light</vt:lpstr>
      <vt:lpstr>Arial</vt:lpstr>
      <vt:lpstr>Libre Baskerville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Saicharan Vandanapu</dc:creator>
  <cp:lastModifiedBy>Saicharan Vandanapu</cp:lastModifiedBy>
  <cp:revision>2</cp:revision>
  <dcterms:created xsi:type="dcterms:W3CDTF">2025-10-14T02:52:14Z</dcterms:created>
  <dcterms:modified xsi:type="dcterms:W3CDTF">2026-09-07T06:58:28Z</dcterms:modified>
</cp:coreProperties>
</file>